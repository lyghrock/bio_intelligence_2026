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8" r:id="rId5"/>
    <p:sldId id="259" r:id="rId6"/>
    <p:sldId id="260" r:id="rId7"/>
    <p:sldId id="265" r:id="rId8"/>
    <p:sldId id="261" r:id="rId9"/>
    <p:sldId id="262" r:id="rId10"/>
    <p:sldId id="269" r:id="rId11"/>
    <p:sldId id="270" r:id="rId12"/>
    <p:sldId id="263" r:id="rId13"/>
    <p:sldId id="264" r:id="rId14"/>
    <p:sldId id="266" r:id="rId15"/>
    <p:sldId id="267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9320" autoAdjust="0"/>
  </p:normalViewPr>
  <p:slideViewPr>
    <p:cSldViewPr snapToGrid="0">
      <p:cViewPr varScale="1">
        <p:scale>
          <a:sx n="75" d="100"/>
          <a:sy n="75" d="100"/>
        </p:scale>
        <p:origin x="304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62CA7-4445-4FDA-B87B-0BC24AD6C8D8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80658-9F01-48E8-A529-84FBF04BF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125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823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传统观点认为，神经元细胞膜是一个被动的 RC 积分器。</a:t>
                </a:r>
              </a:p>
              <a:p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膜电容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e>
                      <m:sub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会吸收/过滤掉高频的快速突触输入。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传统观点认为，神经元细胞膜是一个被动的 RC 积分器。</a:t>
                </a:r>
              </a:p>
              <a:p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膜电容 (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𝐶_𝑚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会吸收/过滤掉高频的快速突触输入。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055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大脑中充满了像 Theta 波、Gamma 波这样的特定节律。如果神经元只是被动衰减的低通滤波器，它就像一台没有调台功能的收音机。为了在充斥着噪音的突触输入中‘听’到特定的频道，神经元膜上必须存在某种主动的带通滤波机制。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我们的工作涉及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beta/gamma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Theta波又被称为 “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受暗示波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”，因为它普遍存在于人们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精神恍惚或者是催眠状态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。而在这种状态下，大脑的Theta波是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最佳的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，它更方便病人接受催眠和相关的治疗。因为Theta波通常在你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做白日梦或将要入睡时出现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。Beta波是人们在清醒中最常见的高频波。它在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认知推理、计算、阅读、沟通以及思考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等有意识的状态下会帮助人们做出完美的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响应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289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反常的激活条件：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去极化关闭，超极化（越负）越激活。</a:t>
            </a:r>
          </a:p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缓慢的动力学：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它的开关极其缓慢，这相当于在等效电路中引入了一个“感抗（Inductance）”。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当膜电位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超极化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（比静息更负，如 -75 mV 或更低）时，HCN 通道打开，允许 Na⁺ 和 K⁺ 流过，这就是 Ih 电流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超极化激活的阳离子电流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 是一个缓慢的内向电流，它让膜电位在超极化后缓慢回升，像弹簧一样往回拉。正是这个特性，让神经元能在 Theta 频段产生共振，赋予膜电位“节律弹性”。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511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为了量化这一过程，我在 NEURON 中构建了包含胞体和远端树突的形态学模型，严格设置静息工作点在 -75mV 的亚阈值区间，并注入 ZAP 扫频电流进行测试。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形态学：包含胞体 (Soma) 和树突 (Dendrite 0.8)。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机制：引入了 HH 基础通道和基于真实电生理数据的HCN 通道。</a:t>
            </a: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刺激协议：ZAP 扫频电流（0.5-25 Hz）。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33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此外，我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们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的模型还在树突端 (Dend 0.8) 测到了同样的共振。在真实大脑的海马 CA1 区，远端树突的 HCN 密度极高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，我们的模型也定性的考虑了这点，设置了一个线性梯度分布，胞体是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0.25g_h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，远端的密度大约是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g_h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是胞体的四倍，这种分布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确保了远端和近端突触输入的公平竞争与时间同步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。据我们查找的资料，真实的大脑，远端的密度可能是胞体密度几十倍。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713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在注入扫频电流前，我先用负向方波电流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-0.05nA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验证了通道的合法性。如图所示，红色曲线展现了经典的 Sag 现象，证明 HCN 通道成功充当了对抗超极化的‘电压减震器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完美复现了 2.0 mV 的 Sag recovery 和回跃去极化。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右边这张图说明了我们外加的扫频电流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足够小，细胞完全处于**“亚阈值（Subthreshold）”**状态。只有在这种线性/微扰状态下，后面计算阻抗和共振才在数学上具有合法性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，同时可以发现电压变化会稍微小一点，这是因为额外增加了离子通道。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01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对于 RC 电容下凹的衰减曲线，这种算法会不可避免地捕捉到一个 0.036 的数学曲率伪影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HCN 通道加入后跃升至 0.062，是将共振能力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绝对翻倍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的真实生物学效应。配合非线性的动作电位阈值，这微小的亚阈值放大足以决定神经元是否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243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B6A9A-C7BD-3396-E80B-9FFAFDF2B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D7D4BB-3371-A5E7-5EE2-7A5951011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CD17FC-DAA5-0FE8-EE26-3AB3ADCB0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对于 RC 电容下凹的衰减曲线，这种算法会不可避免地捕捉到一个 0.036 的数学曲率伪影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HCN 通道加入后跃升至 0.062，是将共振能力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绝对翻倍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的真实生物学效应。配合非线性的动作电位阈值，这微小的亚阈值放大足以决定神经元是否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7F8EDB-7FAA-BFC9-8522-C6C61227F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61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24CB-1A70-45C9-D47D-5751ED944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D56C3F-1651-8565-EB48-D8D78B281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21F52B-656D-BA5F-698F-470F92AF3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对于 RC 电容下凹的衰减曲线，这种算法会不可避免地捕捉到一个 0.036 的数学曲率伪影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HCN 通道加入后跃升至 0.062，是将共振能力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绝对翻倍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的真实生物学效应。配合非线性的动作电位阈值，这微小的亚阈值放大足以决定神经元是否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008DC8-032D-7035-9BB1-1AD352583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746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抛出问题：当把静息电位调整到</a:t>
            </a:r>
            <a:r>
              <a:rPr lang="en-US" altLang="zh-CN" dirty="0"/>
              <a:t>-65mV,</a:t>
            </a:r>
            <a:r>
              <a:rPr lang="zh-CN" altLang="en-US" dirty="0"/>
              <a:t>神奇的事情发生了，</a:t>
            </a:r>
            <a:r>
              <a:rPr lang="en-US" altLang="zh-CN" dirty="0" err="1"/>
              <a:t>hh</a:t>
            </a:r>
            <a:r>
              <a:rPr lang="zh-CN" altLang="en-US" dirty="0"/>
              <a:t>模型也出现了类似的共振峰，并且对应频率与加了</a:t>
            </a:r>
            <a:r>
              <a:rPr lang="en-US" altLang="zh-CN" dirty="0" err="1"/>
              <a:t>hcn</a:t>
            </a:r>
            <a:r>
              <a:rPr lang="zh-CN" altLang="en-US" dirty="0"/>
              <a:t>的几乎一样，增大到了约</a:t>
            </a:r>
            <a:r>
              <a:rPr lang="en-US" altLang="zh-CN" dirty="0"/>
              <a:t>25Hz</a:t>
            </a:r>
            <a:r>
              <a:rPr lang="zh-CN" altLang="en-US" dirty="0"/>
              <a:t>，这是为什么？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489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图一说明再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-65mV,HCN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不再起到主要的作用。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 HH 模型中，钾通道负责动作电位的复极化。当静息电位被抬高到 -65 mV 时，一部分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</m:t>
                        </m:r>
                      </m:e>
                      <m:sup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通道开始进入**“亚阈值激活状态”</a:t>
                </a:r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b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当你输入低频 ZAP 电流使膜电位去极化时，这些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lang="zh-CN" altLang="en-US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</m:t>
                        </m:r>
                      </m:e>
                      <m:sup>
                        <m:r>
                          <a:rPr lang="en-US" altLang="zh-CN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</m:sup>
                    </m:sSup>
                  </m:oMath>
                </a14:m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通道会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缓慢地打开**，释放钾离子出细胞，从而产生一个向外的电流，</a:t>
                </a:r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强行把膜电位压回去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br>
                  <a:rPr lang="zh-CN" altLang="zh-CN" dirty="0"/>
                </a:b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因为它的动作是“缓慢”的，所以它能成功压制低频信号（低频阻抗下降）；而高频信号它来不及反应，由膜电容过滤。</a:t>
                </a:r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高低频都被压制，中间频率突围，HH模型自身的共振就产生了！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我的模型发现神经元不仅是滤波器，更是动态的调谐器。随着大脑状态从静息 (-75mV) 转为警觉 (-65mV)，HCN 通道会自动关闭，将‘接力棒’交给延迟整流钾通道，让神经元瞬间切换到高频的 Gamma 波段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图一说明再</a:t>
                </a:r>
                <a:r>
                  <a:rPr lang="en-US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-65mV,HCN</a:t>
                </a:r>
                <a:r>
                  <a:rPr lang="zh-CN" alt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不再起到主要的作用。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在 HH 模型中，钾通道负责动作电位的复极化。当静息电位被抬高到 -65 mV 时，一部分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𝐾^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通道开始进入**“亚阈值激活状态”</a:t>
                </a:r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b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</a:br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当你输入低频 ZAP 电流使膜电位去极化时，这些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𝐾^</a:t>
                </a:r>
                <a:r>
                  <a:rPr lang="en-US" altLang="zh-CN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+</a:t>
                </a:r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通道会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缓慢地打开**，释放钾离子出细胞，从而产生一个向外的电流，</a:t>
                </a:r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强行把膜电位压回去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。</a:t>
                </a:r>
                <a:br>
                  <a:rPr lang="zh-CN" altLang="zh-CN" dirty="0"/>
                </a:b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因为它的动作是“缓慢”的，所以它能成功压制低频信号（低频阻抗下降）；而高频信号它来不及反应，由膜电容过滤。</a:t>
                </a:r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高低频都被压制，中间频率突围，HH模型自身的共振就产生了！</a:t>
                </a:r>
                <a:endParaRPr lang="en-US" altLang="zh-CN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我的模型发现神经元不仅是滤波器，更是动态的调谐器。随着大脑状态从静息 (-75mV) 转为警觉 (-65mV)，HCN 通道会自动关闭，将‘接力棒’交给延迟整流钾通道，让神经元瞬间切换到高频的 Gamma 波段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556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这两张图很类似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slide4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的两张图。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科学家提取了患病婴儿的 HCN1 突变基因（如图中的 M153I，代表第 153 位的蛋氨酸突变为了异亮氨酸），并把它导入到**体外培养的细胞（如 CHO 细胞或 HEK293 细胞）**中表达。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两张图片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来自体外细胞的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膜片钳实验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记录，对比了正常人（黑线）和患病婴儿的 HCN1 通道特性。</a:t>
            </a:r>
            <a:r>
              <a:rPr lang="zh-CN" altLang="en-US" dirty="0"/>
              <a:t>比较明显的是橙红色的，它的激活电压变得很大，约向右平移了</a:t>
            </a:r>
            <a:r>
              <a:rPr lang="en-US" altLang="zh-CN" dirty="0"/>
              <a:t>40mV</a:t>
            </a:r>
            <a:r>
              <a:rPr lang="zh-CN" altLang="en-US" dirty="0"/>
              <a:t>，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 -75mV 时，突变通道已经处于接近 100% 开启的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饱和死区（红线顶部）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斜率变成了零，动态调谐能力彻底丧失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en-US" dirty="0"/>
              <a:t>同时它的激活时间常数也显著低于正常组，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它失去了正常通道‘缓慢负反馈’的减震特性。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总结来说：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这种突变既让通道失去了敏感的‘频率调谐能力’，又产生了巨大的持续漏电流，导致神经元极度兴奋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这就是导致婴儿爆发严重癫痫的底层细胞级机制。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23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D80658-9F01-48E8-A529-84FBF04BFF3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527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179D6-6F72-BDE9-3BB1-EDE1C9BA0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8C67F7-8216-ED7A-FC1C-90C0F81C4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C75A3E-22CD-BBFF-5C35-D08937A35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F15BFB-27CD-BCE9-E120-1E2CCC677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F33734-89DA-B634-9321-E4A35007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679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C941A-D46A-A167-6D79-E3269B60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894227-CD6A-BD46-C59B-9563555FE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57BD5C-72CC-2C6B-9C93-37150045A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7ED564-2B45-1A57-EC18-03ED5E1AD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5EC0CA-081D-0182-7C67-B6805E31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648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D9A5D-D264-AFFE-7D22-A426D82E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1EE5D8-E603-F621-F5A9-BD401C2D0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D7180F-EBF9-A0A8-57C3-01882463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DEF374-CD13-DE32-CC4F-7598FCC3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F0D9DA-A9A0-8941-C9C6-CFFF0409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181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12DBE-1DC8-7724-14C9-2A2093CB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970976-3281-A043-8A91-EA8A42AE1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E111FD-55C2-B30C-4F15-9A4893B00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9D7494-3049-C53E-267B-0814B451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482350-3F87-9DE8-B2F8-05FD9F19D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B4AAD4-0EEF-6F52-2387-6085019D2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80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21D7A-9A4C-5203-7E4E-F7B499B66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1EF852-3F94-3A1B-F38B-68CACE0CF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C5B45D-5178-D8CA-6028-EC11F5B43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F84F06-4584-473C-15A5-4F345520B3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688F4A-94C5-ACBB-C187-E2B9EB18D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AB13D5-9C68-F745-B3B8-CED335F1B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5A5C6A-2CAF-FF0C-F46B-8F1CF2BCB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232FF5-5EEC-DABB-8171-D0939B2C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58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01B94C-55DD-4EA5-B527-4DEB12555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763AF6-9F09-4CA2-EFB2-DF19E924B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CFFFCF-ABDD-5A12-E0D1-C32A8F973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AC2015-2C7F-5C0C-18EC-C213EEE4A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005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685D2E-5916-51FF-9CA0-04F9E44EC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214DF1-AF34-4CA5-E5D4-DAE16420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3258D4-FFB0-FB4E-7120-9D03D3E9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794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D8305B-9F3E-33C7-3D51-1F84D4AC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45AF15-3361-AC9D-8DE4-7EC1BB96F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250A81-0DC0-D882-047F-765D4ACF7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1255C9-0CFE-EBFC-44E5-D8179D993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F8AF4A-FCB2-8CE9-D690-5F156E92B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94632E-EB14-221A-B2B4-49EA0E06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331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BF454-4AE7-39E7-E2DC-3028E7A20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463517-3727-8C78-52F0-B51FDB07E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4F21DF-2980-29FB-CC62-425F290B3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B02456-348E-E69F-DB14-3010536A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5ED0C8-CA44-5CA2-9EA9-F9DC4C2A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3347C7-896A-AAFC-FE4C-650AD77F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541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60930-5AFB-C9C1-F071-FE88C2F9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A3B5C3-1842-52EB-1E31-87A09107BE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217F9B-00FC-017F-895F-D40896F6D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295568-D8A4-BD4A-2C34-A041F5F72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0EF534-9DC8-5CAC-4324-37A7134E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01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5027BB6-F5EC-81B7-680B-BFD70D9CF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2EC689-6E0F-72EB-8E70-F9DADEFF5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6B185-353C-9681-082D-EE4AFC38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1E36EF-CFD6-6EE2-1B2C-D2F97C0C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A46FC0-1F85-63E8-2897-A0D6ABACE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044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365814-BA13-4B86-AC35-27B9193ED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CAE696-BFD9-1640-CAAE-2E46EFF46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387128-6F36-A4AD-3E4B-3437FB2A8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EAA0B-170A-4D33-B5AB-2BB9271AD51B}" type="datetimeFigureOut">
              <a:rPr lang="zh-CN" altLang="en-US" smtClean="0"/>
              <a:t>2026/6/2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18F01E-58F8-108E-2C3B-3702E88AD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A3001C-8C57-3FB9-6C9F-D6C8ABDFD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C6B58-CEA3-4C31-A2E3-FA7FBD527F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867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prot.26643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prot.26643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53DF3-644C-BD92-AD23-41D7FE321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029" y="1090897"/>
            <a:ext cx="10547941" cy="350722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zh-CN" altLang="zh-CN" sz="7300" b="1" dirty="0">
                <a:latin typeface="黑体" panose="02010609060101010101" pitchFamily="49" charset="-122"/>
                <a:ea typeface="黑体" panose="02010609060101010101" pitchFamily="49" charset="-122"/>
              </a:rPr>
              <a:t>大脑的动态调谐器</a:t>
            </a:r>
            <a:br>
              <a:rPr lang="en-US" altLang="zh-CN" sz="73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——</a:t>
            </a:r>
            <a:r>
              <a:rPr lang="zh-CN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以</a:t>
            </a:r>
            <a:r>
              <a:rPr lang="en-US" altLang="zh-CN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HCN</a:t>
            </a:r>
            <a:r>
              <a:rPr lang="zh-CN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通道的亚阈值共振为切片，</a:t>
            </a:r>
            <a:br>
              <a:rPr lang="en-US" altLang="zh-CN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zh-CN" altLang="en-US" sz="27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看神经元频率选择性的电生理机制</a:t>
            </a:r>
            <a:br>
              <a:rPr lang="en-US" altLang="zh-CN" sz="2400" dirty="0"/>
            </a:br>
            <a:br>
              <a:rPr lang="en-US" altLang="zh-CN" sz="2400" dirty="0"/>
            </a:br>
            <a:r>
              <a:rPr lang="zh-CN" altLang="zh-CN" sz="2700" b="1" dirty="0">
                <a:latin typeface="黑体" panose="02010609060101010101" pitchFamily="49" charset="-122"/>
                <a:ea typeface="黑体" panose="02010609060101010101" pitchFamily="49" charset="-122"/>
              </a:rPr>
              <a:t>生物智能导论 - 讨论项目汇报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CB7FF7-E9B7-0E55-FCF0-A0EF377DF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1674" y="4837457"/>
            <a:ext cx="9144000" cy="1655762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组员：</a:t>
            </a:r>
            <a:endParaRPr lang="en-US" altLang="zh-CN" sz="2000" dirty="0"/>
          </a:p>
          <a:p>
            <a:r>
              <a:rPr lang="zh-CN" altLang="en-US" sz="2000" b="1" dirty="0">
                <a:latin typeface="华文宋体" panose="02010600040101010101" pitchFamily="2" charset="-122"/>
                <a:ea typeface="华文宋体" panose="02010600040101010101" pitchFamily="2" charset="-122"/>
              </a:rPr>
              <a:t>徐梓航  洪玮骏 李沂桉</a:t>
            </a:r>
          </a:p>
        </p:txBody>
      </p:sp>
    </p:spTree>
    <p:extLst>
      <p:ext uri="{BB962C8B-B14F-4D97-AF65-F5344CB8AC3E}">
        <p14:creationId xmlns:p14="http://schemas.microsoft.com/office/powerpoint/2010/main" val="1031543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2F8E6-C8B8-68AC-4C84-329AF97B9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188" y="220932"/>
            <a:ext cx="10515600" cy="1325563"/>
          </a:xfrm>
        </p:spPr>
        <p:txBody>
          <a:bodyPr/>
          <a:lstStyle/>
          <a:p>
            <a:r>
              <a:rPr lang="zh-CN" altLang="en-US" dirty="0"/>
              <a:t>被动膜的低通滤波作用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AFD265D-6274-16C6-9C2D-A3BD8CB37E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557" y="1693507"/>
            <a:ext cx="9162546" cy="410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633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47864-1880-7D32-E80D-96D79DF6B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572"/>
            <a:ext cx="10515600" cy="1325563"/>
          </a:xfrm>
        </p:spPr>
        <p:txBody>
          <a:bodyPr/>
          <a:lstStyle/>
          <a:p>
            <a:r>
              <a:rPr lang="zh-CN" altLang="zh-CN" dirty="0"/>
              <a:t>矛盾与动机：大脑中的特定节律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E567B9-4AE1-5C2A-F62B-D689A2394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202"/>
            <a:ext cx="10515600" cy="4351338"/>
          </a:xfrm>
        </p:spPr>
        <p:txBody>
          <a:bodyPr/>
          <a:lstStyle/>
          <a:p>
            <a:r>
              <a:rPr lang="zh-CN" altLang="zh-CN" dirty="0"/>
              <a:t>大脑网络充满了特定频率的振荡节律，神经元必须能精准地捕捉这些节律。</a:t>
            </a:r>
          </a:p>
          <a:p>
            <a:r>
              <a:rPr lang="zh-CN" altLang="zh-CN" dirty="0"/>
              <a:t>如果神经元只是低通滤波器，它如何实现频率选择（Frequency Tuning）？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71A024-4A0A-AECF-C62F-68C03864F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730" y="3093357"/>
            <a:ext cx="52292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35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C86B4E-A7AA-46FC-624B-9D490A3A9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443" y="126686"/>
            <a:ext cx="10515600" cy="1325563"/>
          </a:xfrm>
        </p:spPr>
        <p:txBody>
          <a:bodyPr/>
          <a:lstStyle/>
          <a:p>
            <a:r>
              <a:rPr lang="en-US" altLang="zh-CN" dirty="0"/>
              <a:t>HCN</a:t>
            </a:r>
            <a:r>
              <a:rPr lang="zh-CN" altLang="en-US" dirty="0"/>
              <a:t>通道：功能与结构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AE5646-45DB-61BD-F3A0-A7BC4E5BA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509" y="2058175"/>
            <a:ext cx="4330000" cy="37389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E46C74F-E15E-D062-4BEF-8D83E2243811}"/>
              </a:ext>
            </a:extLst>
          </p:cNvPr>
          <p:cNvSpPr txBox="1"/>
          <p:nvPr/>
        </p:nvSpPr>
        <p:spPr>
          <a:xfrm>
            <a:off x="766618" y="5975639"/>
            <a:ext cx="9217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chemeClr val="bg2">
                    <a:lumMod val="75000"/>
                  </a:schemeClr>
                </a:solidFill>
              </a:rPr>
              <a:t>Mishra P, Narayanan R. The enigmatic HCN channels: A cellular neurophysiology perspective. </a:t>
            </a:r>
            <a:r>
              <a:rPr lang="zh-CN" altLang="zh-CN" i="1" dirty="0">
                <a:solidFill>
                  <a:schemeClr val="bg2">
                    <a:lumMod val="75000"/>
                  </a:schemeClr>
                </a:solidFill>
              </a:rPr>
              <a:t>Proteins</a:t>
            </a:r>
            <a:r>
              <a:rPr lang="zh-CN" altLang="zh-CN" dirty="0">
                <a:solidFill>
                  <a:schemeClr val="bg2">
                    <a:lumMod val="75000"/>
                  </a:schemeClr>
                </a:solidFill>
              </a:rPr>
              <a:t>. 2025; 93(1): 72-92. doi:</a:t>
            </a:r>
            <a:r>
              <a:rPr lang="zh-CN" altLang="zh-CN" dirty="0">
                <a:solidFill>
                  <a:schemeClr val="bg2">
                    <a:lumMod val="75000"/>
                  </a:schemeClr>
                </a:solidFill>
                <a:hlinkClick r:id="rId3" tooltip="Link to external resource: 10.1002/prot.2664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10.1002/prot.26643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E7EEAAB-F6C8-23FB-D2AE-DEDBB3CF516E}"/>
              </a:ext>
            </a:extLst>
          </p:cNvPr>
          <p:cNvSpPr txBox="1"/>
          <p:nvPr/>
        </p:nvSpPr>
        <p:spPr>
          <a:xfrm>
            <a:off x="905163" y="1306549"/>
            <a:ext cx="10904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Hyperpolarization</a:t>
            </a:r>
            <a:r>
              <a:rPr lang="zh-CN" altLang="zh-CN" sz="2800" b="1" dirty="0">
                <a:latin typeface="Constantia" panose="02030602050306030303" pitchFamily="18" charset="0"/>
              </a:rPr>
              <a:t>-activated Cyclic Nucleotide-gated channels</a:t>
            </a:r>
            <a:endParaRPr lang="zh-CN" altLang="en-US" sz="2800" b="1" dirty="0">
              <a:latin typeface="Constantia" panose="02030602050306030303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01AA856-8CB1-48D0-2977-338C2DE57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417" y="2016196"/>
            <a:ext cx="4051005" cy="366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3778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8F461D-B282-1388-29B2-8985F174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HCN 通道</a:t>
            </a:r>
            <a:r>
              <a:rPr lang="zh-CN" altLang="en-US" dirty="0"/>
              <a:t>：电生理特性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ABF047-6A36-9374-71AC-C5E971FA316F}"/>
              </a:ext>
            </a:extLst>
          </p:cNvPr>
          <p:cNvSpPr txBox="1"/>
          <p:nvPr/>
        </p:nvSpPr>
        <p:spPr>
          <a:xfrm>
            <a:off x="1119226" y="5846544"/>
            <a:ext cx="8962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chemeClr val="bg2">
                    <a:lumMod val="75000"/>
                  </a:schemeClr>
                </a:solidFill>
              </a:rPr>
              <a:t>Mishra P, Narayanan R. The enigmatic HCN channels: A cellular neurophysiology perspective. </a:t>
            </a:r>
            <a:r>
              <a:rPr lang="zh-CN" altLang="zh-CN" i="1" dirty="0">
                <a:solidFill>
                  <a:schemeClr val="bg2">
                    <a:lumMod val="75000"/>
                  </a:schemeClr>
                </a:solidFill>
              </a:rPr>
              <a:t>Proteins</a:t>
            </a:r>
            <a:r>
              <a:rPr lang="zh-CN" altLang="zh-CN" dirty="0">
                <a:solidFill>
                  <a:schemeClr val="bg2">
                    <a:lumMod val="75000"/>
                  </a:schemeClr>
                </a:solidFill>
              </a:rPr>
              <a:t>. 2025; 93(1): 72-92. doi:</a:t>
            </a:r>
            <a:r>
              <a:rPr lang="zh-CN" altLang="zh-CN" dirty="0">
                <a:solidFill>
                  <a:schemeClr val="bg2">
                    <a:lumMod val="75000"/>
                  </a:schemeClr>
                </a:solidFill>
                <a:hlinkClick r:id="rId3" tooltip="Link to external resource: 10.1002/prot.2664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10.1002/prot.26643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23ABEF3-3CA9-61E5-2F7F-FA09BB7DDD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6245" y="660445"/>
            <a:ext cx="2028315" cy="480331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ECA49DD-9F1C-2422-0553-690DFDF01C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5790"/>
          <a:stretch>
            <a:fillRect/>
          </a:stretch>
        </p:blipFill>
        <p:spPr>
          <a:xfrm>
            <a:off x="1236133" y="1601229"/>
            <a:ext cx="7386275" cy="405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815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78677-4918-606F-E276-3D1585865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704"/>
            <a:ext cx="10515600" cy="1325563"/>
          </a:xfrm>
        </p:spPr>
        <p:txBody>
          <a:bodyPr/>
          <a:lstStyle/>
          <a:p>
            <a:r>
              <a:rPr lang="zh-CN" altLang="zh-CN" dirty="0"/>
              <a:t>NEURON 模型架构设计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7FEDE80-C25F-6A5F-3649-3E4C48429D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29281" y="3369905"/>
            <a:ext cx="7552392" cy="28970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768DE07-6414-9278-67C9-296A33525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224" y="1169180"/>
            <a:ext cx="7674495" cy="30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3600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E79E9-37B8-D744-62D8-0F678190A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树突的独立计算与空间编码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0AC73C7-4900-95AB-400E-0AE85C3BF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7362" y="1512090"/>
            <a:ext cx="9144019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6202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0204FE-7FEA-BEEE-163A-C8AE45940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时域验证：超极化下垂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0A33252-9D09-77D6-F80E-AC8B65835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555940"/>
            <a:ext cx="10515600" cy="399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340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480FA9-509A-5A0F-D5E1-30B402D8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频域：亚阈值共振的直观对比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C7FE44F-59E5-3E7D-FD70-16EF368C5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6426" y="1586170"/>
            <a:ext cx="10515600" cy="39621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35BBFE0-80E7-E38E-72A3-978BC732775D}"/>
              </a:ext>
            </a:extLst>
          </p:cNvPr>
          <p:cNvSpPr txBox="1"/>
          <p:nvPr/>
        </p:nvSpPr>
        <p:spPr>
          <a:xfrm>
            <a:off x="1023257" y="5653314"/>
            <a:ext cx="920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计算共振显著度采用了</a:t>
            </a:r>
            <a:r>
              <a:rPr lang="zh-CN" altLang="zh-CN" dirty="0"/>
              <a:t>侧翼均值扣除法</a:t>
            </a:r>
            <a:r>
              <a:rPr lang="zh-CN" altLang="en-US" dirty="0"/>
              <a:t>，这也是为什么单调减函数也有非零值</a:t>
            </a:r>
          </a:p>
        </p:txBody>
      </p:sp>
    </p:spTree>
    <p:extLst>
      <p:ext uri="{BB962C8B-B14F-4D97-AF65-F5344CB8AC3E}">
        <p14:creationId xmlns:p14="http://schemas.microsoft.com/office/powerpoint/2010/main" val="38485468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846CF-8FA4-71E7-0C83-3554B3DDD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AC601-658E-2F6B-D296-D5F56D0C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669" y="305034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超极化情形下的结果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F8E919C-78A0-B3BC-D30D-7B28A9491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20" y="1830214"/>
            <a:ext cx="3801577" cy="290085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2966627-FFB1-1926-409C-0418F4857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697" y="1645359"/>
            <a:ext cx="3979640" cy="31449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5768AEC-ADCB-132B-1DE9-04975E58E8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039" y="1717309"/>
            <a:ext cx="3795105" cy="301376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F5E5AEA-6517-648C-2938-EC3BD2DB79B7}"/>
              </a:ext>
            </a:extLst>
          </p:cNvPr>
          <p:cNvSpPr txBox="1"/>
          <p:nvPr/>
        </p:nvSpPr>
        <p:spPr>
          <a:xfrm>
            <a:off x="1720939" y="5388257"/>
            <a:ext cx="9451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随着超极化程度增加，</a:t>
            </a:r>
            <a:r>
              <a:rPr lang="en-US" altLang="zh-CN" sz="20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HCN</a:t>
            </a:r>
            <a:r>
              <a:rPr lang="zh-CN" altLang="zh-CN" sz="20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sag</a:t>
            </a:r>
            <a:r>
              <a:rPr lang="zh-CN" altLang="zh-CN" sz="20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效应以及</a:t>
            </a:r>
            <a:r>
              <a:rPr lang="en-US" altLang="zh-CN" sz="20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recovery-rebound</a:t>
            </a:r>
            <a:r>
              <a:rPr lang="zh-CN" altLang="zh-CN" sz="2000" b="1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的效果也逐渐明显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72338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355A-B88C-DF5E-B42A-3011CA897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3E289-541E-AB65-2B32-E803707E8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669" y="17171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超极化情形下的结果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C29142-78C6-5C27-A1D3-12AC0A71A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09" y="1298852"/>
            <a:ext cx="5881791" cy="23123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3193265-B057-E96B-2BA4-3510B6FAF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229" y="4119175"/>
            <a:ext cx="6181092" cy="2399344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DB8DF08-52D2-E045-4F4B-5A70FF596BD3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339045" y="3611179"/>
            <a:ext cx="787184" cy="1707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6C0E7B8A-6FFA-F84B-BA65-D4FC0A4EB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224" y="390178"/>
            <a:ext cx="6032940" cy="2399344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829D1E0-CF7A-FA51-9B02-D1253D7E86F3}"/>
              </a:ext>
            </a:extLst>
          </p:cNvPr>
          <p:cNvCxnSpPr>
            <a:stCxn id="6" idx="0"/>
            <a:endCxn id="12" idx="2"/>
          </p:cNvCxnSpPr>
          <p:nvPr/>
        </p:nvCxnSpPr>
        <p:spPr>
          <a:xfrm flipV="1">
            <a:off x="6216775" y="2789522"/>
            <a:ext cx="2834919" cy="1329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A9988AEE-5B3A-8BB8-6986-57DD3184BE3E}"/>
              </a:ext>
            </a:extLst>
          </p:cNvPr>
          <p:cNvSpPr txBox="1"/>
          <p:nvPr/>
        </p:nvSpPr>
        <p:spPr>
          <a:xfrm>
            <a:off x="10016543" y="2738685"/>
            <a:ext cx="1783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-130mV</a:t>
            </a:r>
            <a:endParaRPr lang="zh-CN" altLang="en-US" sz="24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1E7316A-EF14-62DE-FB7D-C1F0C62D65CB}"/>
              </a:ext>
            </a:extLst>
          </p:cNvPr>
          <p:cNvSpPr txBox="1"/>
          <p:nvPr/>
        </p:nvSpPr>
        <p:spPr>
          <a:xfrm>
            <a:off x="9832253" y="5311985"/>
            <a:ext cx="1783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-110mV</a:t>
            </a:r>
            <a:endParaRPr lang="zh-CN" altLang="en-US" sz="2400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4CDBDE5-6E46-17E5-5DDE-3A58C0C327F9}"/>
              </a:ext>
            </a:extLst>
          </p:cNvPr>
          <p:cNvSpPr txBox="1"/>
          <p:nvPr/>
        </p:nvSpPr>
        <p:spPr>
          <a:xfrm>
            <a:off x="1001251" y="3657510"/>
            <a:ext cx="1783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-90mV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7116665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D92AD2-A0BA-E1A6-C107-06FD69E3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/>
          <a:lstStyle/>
          <a:p>
            <a:r>
              <a:rPr lang="zh-CN" altLang="zh-CN" dirty="0"/>
              <a:t> 进阶发现：</a:t>
            </a:r>
            <a:r>
              <a:rPr lang="en-US" altLang="zh-CN" dirty="0"/>
              <a:t>naive-HH model</a:t>
            </a:r>
            <a:r>
              <a:rPr lang="zh-CN" altLang="en-US" dirty="0"/>
              <a:t>的共振现象</a:t>
            </a:r>
            <a:r>
              <a:rPr lang="zh-CN" altLang="zh-CN" dirty="0"/>
              <a:t>？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919539E-3846-A60B-54CF-1EDCAAA19A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04707" y="1687624"/>
            <a:ext cx="5477024" cy="435133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1FDF521-763E-0251-5056-B295B23C32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790"/>
          <a:stretch>
            <a:fillRect/>
          </a:stretch>
        </p:blipFill>
        <p:spPr>
          <a:xfrm>
            <a:off x="6634357" y="2427072"/>
            <a:ext cx="5233607" cy="287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712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B2A1BD-A1D0-4DBD-B7ED-DD36921F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364" y="68915"/>
            <a:ext cx="10515600" cy="1325563"/>
          </a:xfrm>
        </p:spPr>
        <p:txBody>
          <a:bodyPr/>
          <a:lstStyle/>
          <a:p>
            <a:r>
              <a:rPr lang="zh-CN" altLang="en-US" dirty="0"/>
              <a:t>可能的原因：钾离子通道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FAEEC33-4426-F0B6-5FCB-16A9B7BDE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8220" y="1234687"/>
            <a:ext cx="3571960" cy="28056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29ABE1C-80FA-76CB-5197-9E183C7589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01" y="1394478"/>
            <a:ext cx="6680199" cy="2597169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C530ABC-BC76-117A-57C2-573B0B19CADC}"/>
              </a:ext>
            </a:extLst>
          </p:cNvPr>
          <p:cNvSpPr txBox="1"/>
          <p:nvPr/>
        </p:nvSpPr>
        <p:spPr>
          <a:xfrm>
            <a:off x="768220" y="4104130"/>
            <a:ext cx="109392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抑制</a:t>
            </a:r>
            <a:r>
              <a:rPr lang="en-US" altLang="zh-CN" sz="2000" dirty="0"/>
              <a:t>/</a:t>
            </a:r>
            <a:r>
              <a:rPr lang="zh-CN" altLang="en-US" sz="2000" dirty="0"/>
              <a:t>超极化</a:t>
            </a:r>
            <a:r>
              <a:rPr lang="zh-CN" altLang="zh-CN" sz="2000" dirty="0"/>
              <a:t> (-</a:t>
            </a:r>
            <a:r>
              <a:rPr lang="en-US" altLang="zh-CN" sz="2000" dirty="0"/>
              <a:t>75</a:t>
            </a:r>
            <a:r>
              <a:rPr lang="zh-CN" altLang="zh-CN" sz="2000" dirty="0"/>
              <a:t>mV</a:t>
            </a:r>
            <a:r>
              <a:rPr lang="en-US" altLang="zh-CN" sz="2000" dirty="0"/>
              <a:t> and lower</a:t>
            </a:r>
            <a:r>
              <a:rPr lang="zh-CN" altLang="zh-CN" sz="2000" dirty="0"/>
              <a:t>)：HCN 通道</a:t>
            </a:r>
            <a:r>
              <a:rPr lang="zh-CN" altLang="en-US" sz="2000" dirty="0"/>
              <a:t>大量开放，</a:t>
            </a:r>
            <a:r>
              <a:rPr lang="en-US" altLang="zh-CN" sz="2000" dirty="0"/>
              <a:t>sag</a:t>
            </a:r>
            <a:r>
              <a:rPr lang="zh-CN" altLang="en-US" sz="2000" dirty="0"/>
              <a:t>效应明显</a:t>
            </a:r>
            <a:r>
              <a:rPr lang="zh-CN" altLang="zh-CN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睡眠</a:t>
            </a:r>
            <a:r>
              <a:rPr lang="en-US" altLang="zh-CN" sz="2000" dirty="0"/>
              <a:t>/</a:t>
            </a:r>
            <a:r>
              <a:rPr lang="zh-CN" altLang="en-US" sz="2000" dirty="0"/>
              <a:t>静息 </a:t>
            </a:r>
            <a:r>
              <a:rPr lang="en-US" altLang="zh-CN" sz="2000" dirty="0"/>
              <a:t>(-75mV to -65mV)</a:t>
            </a:r>
            <a:r>
              <a:rPr lang="zh-CN" altLang="en-US" sz="2000" dirty="0"/>
              <a:t>：</a:t>
            </a:r>
            <a:r>
              <a:rPr lang="en-US" altLang="zh-CN" sz="2000" dirty="0"/>
              <a:t>HCN</a:t>
            </a:r>
            <a:r>
              <a:rPr lang="zh-CN" altLang="en-US" sz="2000" dirty="0"/>
              <a:t>通道起到</a:t>
            </a:r>
            <a:r>
              <a:rPr lang="en-US" altLang="zh-CN" sz="2000" dirty="0"/>
              <a:t>theta</a:t>
            </a:r>
            <a:r>
              <a:rPr lang="zh-CN" altLang="en-US" sz="2000" dirty="0"/>
              <a:t>波段的调谐作用。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dirty="0"/>
              <a:t>警觉/活跃 (-65mV)：</a:t>
            </a:r>
            <a:r>
              <a:rPr lang="zh-CN" altLang="en-US" sz="2000" dirty="0"/>
              <a:t>这个电位 </a:t>
            </a:r>
            <a:r>
              <a:rPr lang="zh-CN" altLang="zh-CN" sz="2000" dirty="0"/>
              <a:t>HCN</a:t>
            </a:r>
            <a:r>
              <a:rPr lang="en-US" altLang="zh-CN" sz="2000" dirty="0"/>
              <a:t> </a:t>
            </a:r>
            <a:r>
              <a:rPr lang="zh-CN" altLang="en-US" sz="2000" dirty="0"/>
              <a:t>通道几乎关闭</a:t>
            </a:r>
            <a:r>
              <a:rPr lang="zh-CN" altLang="zh-CN" sz="2000" dirty="0"/>
              <a:t>，</a:t>
            </a:r>
            <a:r>
              <a:rPr lang="zh-CN" altLang="en-US" sz="2000" dirty="0"/>
              <a:t>但是</a:t>
            </a:r>
            <a:r>
              <a:rPr lang="zh-CN" altLang="zh-CN" sz="2000" dirty="0"/>
              <a:t>钾</a:t>
            </a:r>
            <a:r>
              <a:rPr lang="zh-CN" altLang="en-US" sz="2000" dirty="0"/>
              <a:t>离子</a:t>
            </a:r>
            <a:r>
              <a:rPr lang="zh-CN" altLang="zh-CN" sz="2000" dirty="0"/>
              <a:t>通道</a:t>
            </a:r>
            <a:r>
              <a:rPr lang="zh-CN" altLang="en-US" sz="2000" dirty="0"/>
              <a:t>因为电位变化被部分激活，其响应速度同样慢于</a:t>
            </a:r>
            <a:r>
              <a:rPr lang="en-US" altLang="zh-CN" sz="2000" dirty="0"/>
              <a:t>Na+</a:t>
            </a:r>
            <a:r>
              <a:rPr lang="zh-CN" altLang="en-US" sz="2000" dirty="0"/>
              <a:t>（约等于感抗的作用）</a:t>
            </a:r>
            <a:r>
              <a:rPr lang="zh-CN" altLang="zh-CN" sz="2000" dirty="0"/>
              <a:t>，</a:t>
            </a:r>
            <a:r>
              <a:rPr lang="zh-CN" altLang="en-US" sz="2000" dirty="0"/>
              <a:t>起到了共振效果，</a:t>
            </a:r>
            <a:r>
              <a:rPr lang="zh-CN" altLang="zh-CN" sz="2000" dirty="0"/>
              <a:t>调谐 Beta/Gamma 波</a:t>
            </a:r>
            <a:r>
              <a:rPr lang="zh-CN" altLang="en-US" sz="2000" dirty="0"/>
              <a:t>。</a:t>
            </a:r>
            <a:endParaRPr lang="zh-CN" altLang="zh-CN" sz="20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88037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16DF1-BD7F-6451-B58D-F3DC47E05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381" y="60325"/>
            <a:ext cx="10515600" cy="1325563"/>
          </a:xfrm>
        </p:spPr>
        <p:txBody>
          <a:bodyPr/>
          <a:lstStyle/>
          <a:p>
            <a:r>
              <a:rPr lang="zh-CN" altLang="zh-CN" dirty="0"/>
              <a:t>临床联系：早发性婴儿癫痫脑病（EIEE24）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D32CA5-AB07-1C94-CD38-CD8FAC34D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254" y="1184997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zh-CN" sz="2400" dirty="0"/>
              <a:t>由 </a:t>
            </a:r>
            <a:r>
              <a:rPr lang="zh-CN" altLang="zh-CN" sz="2400" b="1" dirty="0"/>
              <a:t>HCN1 基因新生杂合突变</a:t>
            </a:r>
            <a:r>
              <a:rPr lang="zh-CN" altLang="zh-CN" sz="2400" dirty="0"/>
              <a:t> 引起的一种严重发育性癫痫脑病</a:t>
            </a:r>
            <a:endParaRPr lang="en-US" altLang="zh-CN" sz="2400" dirty="0"/>
          </a:p>
          <a:p>
            <a:r>
              <a:rPr lang="zh-CN" altLang="zh-CN" sz="2400" b="1" dirty="0"/>
              <a:t>脑电图：</a:t>
            </a:r>
            <a:r>
              <a:rPr lang="zh-CN" altLang="zh-CN" sz="2400" dirty="0"/>
              <a:t>背景活动严重紊乱，缺乏正常的睡眠纺锤波和 Theta 节律</a:t>
            </a:r>
            <a:r>
              <a:rPr lang="zh-CN" altLang="en-US" sz="2400" dirty="0"/>
              <a:t>，</a:t>
            </a:r>
            <a:r>
              <a:rPr lang="zh-CN" altLang="zh-CN" sz="2400" dirty="0"/>
              <a:t>大量棘‑慢复合波爆发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A61578-C176-CA6C-DD37-7563778FC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944" y="2346876"/>
            <a:ext cx="4560454" cy="3688850"/>
          </a:xfrm>
          <a:prstGeom prst="rect">
            <a:avLst/>
          </a:prstGeom>
        </p:spPr>
      </p:pic>
      <p:pic>
        <p:nvPicPr>
          <p:cNvPr id="6" name="内容占位符 4">
            <a:extLst>
              <a:ext uri="{FF2B5EF4-FFF2-40B4-BE49-F238E27FC236}">
                <a16:creationId xmlns:a16="http://schemas.microsoft.com/office/drawing/2014/main" id="{427BB2D9-74DE-BD54-DC19-E2D6E9E2D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705" y="2162193"/>
            <a:ext cx="4915586" cy="40582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8A8B8F0-B92E-FF31-F084-8B5FF50E3426}"/>
              </a:ext>
            </a:extLst>
          </p:cNvPr>
          <p:cNvSpPr txBox="1"/>
          <p:nvPr/>
        </p:nvSpPr>
        <p:spPr>
          <a:xfrm>
            <a:off x="1241172" y="6087493"/>
            <a:ext cx="9720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solidFill>
                  <a:schemeClr val="bg2">
                    <a:lumMod val="75000"/>
                  </a:schemeClr>
                </a:solidFill>
              </a:rPr>
              <a:t>Marini et al. (2018)</a:t>
            </a:r>
            <a:r>
              <a:rPr lang="zh-CN" altLang="zh-CN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zh-CN" altLang="zh-CN" i="1" dirty="0">
                <a:solidFill>
                  <a:schemeClr val="bg2">
                    <a:lumMod val="75000"/>
                  </a:schemeClr>
                </a:solidFill>
              </a:rPr>
              <a:t>HCN1 mutation spectrum: from neonatal epileptic encephalopathy to benign generalized epilepsy and beyond.</a:t>
            </a:r>
            <a:r>
              <a:rPr lang="zh-CN" altLang="zh-CN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zh-CN" altLang="zh-CN" b="1" dirty="0">
                <a:solidFill>
                  <a:schemeClr val="bg2">
                    <a:lumMod val="75000"/>
                  </a:schemeClr>
                </a:solidFill>
              </a:rPr>
              <a:t>Brain</a:t>
            </a:r>
            <a:endParaRPr lang="zh-CN" alt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3727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6E3FA-F5D8-A7B8-CD01-B6AF67CA3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Takeaways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77699A-E33D-6642-3818-3BC68F9CA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945" y="647498"/>
            <a:ext cx="10515600" cy="5623479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endParaRPr lang="en-US" altLang="zh-CN" dirty="0"/>
          </a:p>
          <a:p>
            <a:pPr lvl="1">
              <a:lnSpc>
                <a:spcPct val="160000"/>
              </a:lnSpc>
            </a:pPr>
            <a:r>
              <a:rPr lang="zh-CN" altLang="zh-CN" dirty="0"/>
              <a:t>神经元不是固定滤波器，而是“状态依赖的频率调谐器”</a:t>
            </a:r>
            <a:endParaRPr lang="en-US" altLang="zh-CN" dirty="0"/>
          </a:p>
          <a:p>
            <a:pPr lvl="1">
              <a:lnSpc>
                <a:spcPct val="160000"/>
              </a:lnSpc>
            </a:pPr>
            <a:r>
              <a:rPr lang="zh-CN" altLang="zh-CN" dirty="0"/>
              <a:t>HCN 通道能够</a:t>
            </a:r>
            <a:r>
              <a:rPr lang="zh-CN" altLang="en-US" dirty="0"/>
              <a:t>通过</a:t>
            </a:r>
            <a:r>
              <a:rPr lang="en-US" altLang="zh-CN" dirty="0" err="1"/>
              <a:t>lh</a:t>
            </a:r>
            <a:r>
              <a:rPr lang="zh-CN" altLang="en-US" dirty="0"/>
              <a:t>电流</a:t>
            </a:r>
            <a:r>
              <a:rPr lang="zh-CN" altLang="zh-CN" dirty="0"/>
              <a:t>缓解超极化幅度</a:t>
            </a:r>
            <a:r>
              <a:rPr lang="zh-CN" altLang="en-US" dirty="0"/>
              <a:t>，</a:t>
            </a:r>
            <a:r>
              <a:rPr lang="zh-CN" altLang="zh-CN" dirty="0"/>
              <a:t>使膜电位变化更加平缓</a:t>
            </a:r>
            <a:endParaRPr lang="en-US" altLang="zh-CN" dirty="0"/>
          </a:p>
          <a:p>
            <a:pPr lvl="1">
              <a:lnSpc>
                <a:spcPct val="160000"/>
              </a:lnSpc>
            </a:pPr>
            <a:r>
              <a:rPr lang="zh-CN" altLang="zh-CN" dirty="0"/>
              <a:t>HCN 负责</a:t>
            </a:r>
            <a:r>
              <a:rPr lang="zh-CN" altLang="en-US" dirty="0"/>
              <a:t>静息态下</a:t>
            </a:r>
            <a:r>
              <a:rPr lang="zh-CN" altLang="zh-CN" dirty="0"/>
              <a:t>低频（theta）共振窗口的建立与稳定</a:t>
            </a:r>
            <a:r>
              <a:rPr lang="zh-CN" altLang="en-US" dirty="0"/>
              <a:t>（通过带通滤波使得</a:t>
            </a:r>
            <a:r>
              <a:rPr lang="en-US" altLang="zh-CN" dirty="0"/>
              <a:t>theta</a:t>
            </a:r>
            <a:r>
              <a:rPr lang="zh-CN" altLang="en-US" dirty="0"/>
              <a:t>波段可以因共振稳定存在，而过滤其它波段）</a:t>
            </a:r>
            <a:endParaRPr lang="en-US" altLang="zh-CN" dirty="0"/>
          </a:p>
          <a:p>
            <a:pPr lvl="1">
              <a:lnSpc>
                <a:spcPct val="160000"/>
              </a:lnSpc>
            </a:pPr>
            <a:r>
              <a:rPr lang="zh-CN" altLang="zh-CN" dirty="0"/>
              <a:t>频率选择性来自“多机制竞争”，不是单一</a:t>
            </a:r>
            <a:r>
              <a:rPr lang="en-US" altLang="zh-CN" dirty="0"/>
              <a:t>HCN</a:t>
            </a:r>
            <a:r>
              <a:rPr lang="zh-CN" altLang="zh-CN" dirty="0"/>
              <a:t>通道</a:t>
            </a:r>
            <a:r>
              <a:rPr lang="zh-CN" altLang="en-US" dirty="0"/>
              <a:t>可以解释的（</a:t>
            </a:r>
            <a:r>
              <a:rPr lang="en-US" altLang="zh-CN" dirty="0"/>
              <a:t>HH-Model</a:t>
            </a:r>
            <a:r>
              <a:rPr lang="zh-CN" altLang="en-US" dirty="0"/>
              <a:t>，甚至</a:t>
            </a:r>
            <a:r>
              <a:rPr lang="en-US" altLang="zh-CN" dirty="0"/>
              <a:t>KCNQ</a:t>
            </a:r>
            <a:r>
              <a:rPr lang="zh-CN" altLang="en-US" dirty="0"/>
              <a:t>等复杂机制都会引入</a:t>
            </a:r>
            <a:r>
              <a:rPr lang="en-US" altLang="zh-CN" dirty="0"/>
              <a:t>resonance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lnSpc>
                <a:spcPct val="160000"/>
              </a:lnSpc>
            </a:pPr>
            <a:endParaRPr lang="zh-CN" altLang="zh-CN" dirty="0"/>
          </a:p>
          <a:p>
            <a:pPr lvl="1">
              <a:lnSpc>
                <a:spcPct val="160000"/>
              </a:lnSpc>
            </a:pP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3E4DD3-EC57-99F9-4519-82AF475895E2}"/>
              </a:ext>
            </a:extLst>
          </p:cNvPr>
          <p:cNvSpPr txBox="1"/>
          <p:nvPr/>
        </p:nvSpPr>
        <p:spPr>
          <a:xfrm>
            <a:off x="1527629" y="5648838"/>
            <a:ext cx="91367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/>
              <a:t>谢谢！欢迎批评指正！</a:t>
            </a:r>
          </a:p>
        </p:txBody>
      </p:sp>
    </p:spTree>
    <p:extLst>
      <p:ext uri="{BB962C8B-B14F-4D97-AF65-F5344CB8AC3E}">
        <p14:creationId xmlns:p14="http://schemas.microsoft.com/office/powerpoint/2010/main" val="16823593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1859</Words>
  <Application>Microsoft Office PowerPoint</Application>
  <PresentationFormat>宽屏</PresentationFormat>
  <Paragraphs>76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等线</vt:lpstr>
      <vt:lpstr>等线 Light</vt:lpstr>
      <vt:lpstr>黑体</vt:lpstr>
      <vt:lpstr>华文宋体</vt:lpstr>
      <vt:lpstr>Arial</vt:lpstr>
      <vt:lpstr>Cambria Math</vt:lpstr>
      <vt:lpstr>Constantia</vt:lpstr>
      <vt:lpstr>Times New Roman</vt:lpstr>
      <vt:lpstr>Office 主题​​</vt:lpstr>
      <vt:lpstr>大脑的动态调谐器 ——以HCN通道的亚阈值共振为切片， 看神经元频率选择性的电生理机制  生物智能导论 - 讨论项目汇报</vt:lpstr>
      <vt:lpstr>被动膜的低通滤波作用</vt:lpstr>
      <vt:lpstr>矛盾与动机：大脑中的特定节律</vt:lpstr>
      <vt:lpstr>HCN通道：功能与结构</vt:lpstr>
      <vt:lpstr>HCN 通道：电生理特性</vt:lpstr>
      <vt:lpstr>NEURON 模型架构设计</vt:lpstr>
      <vt:lpstr>树突的独立计算与空间编码</vt:lpstr>
      <vt:lpstr>时域验证：超极化下垂</vt:lpstr>
      <vt:lpstr>频域：亚阈值共振的直观对比</vt:lpstr>
      <vt:lpstr>超极化情形下的结果</vt:lpstr>
      <vt:lpstr>超极化情形下的结果</vt:lpstr>
      <vt:lpstr> 进阶发现：naive-HH model的共振现象？</vt:lpstr>
      <vt:lpstr>可能的原因：钾离子通道</vt:lpstr>
      <vt:lpstr>临床联系：早发性婴儿癫痫脑病（EIEE24）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沂桉 李</dc:creator>
  <cp:lastModifiedBy>玮骏 洪</cp:lastModifiedBy>
  <cp:revision>52</cp:revision>
  <dcterms:created xsi:type="dcterms:W3CDTF">2026-05-29T13:39:23Z</dcterms:created>
  <dcterms:modified xsi:type="dcterms:W3CDTF">2026-06-01T20:53:28Z</dcterms:modified>
</cp:coreProperties>
</file>