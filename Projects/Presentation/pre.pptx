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72" y="5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62CA7-4445-4FDA-B87B-0BC24AD6C8D8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D80658-9F01-48E8-A529-84FBF04BF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12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传统观点认为，神经元细胞膜是一个被动的 RC 积分器。</a:t>
                </a: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膜电容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𝐶</m:t>
                        </m:r>
                      </m:e>
                      <m:sub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会吸收/过滤掉高频的快速突触输入。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传统观点认为，神经元细胞膜是一个被动的 RC 积分器。</a:t>
                </a: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膜电容 (</a:t>
                </a:r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𝐶_𝑚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会吸收/过滤掉高频的快速突触输入。</a:t>
                </a: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055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大脑中充满了像 Theta 波、Gamma 波这样的特定节律。如果神经元只是被动衰减的低通滤波器，它就像一台没有调台功能的收音机。为了在充斥着噪音的突触输入中‘听’到特定的频道，神经元膜上必须存在某种主动的带通滤波机制。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我们的工作涉及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theta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beta/gamma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Theta波又被称为 “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受暗示波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”，因为它普遍存在于人们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精神恍惚或者是催眠状态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。而在这种状态下，大脑的Theta波是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最佳的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，它更方便病人接受催眠和相关的治疗。因为Theta波通常在你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做白日梦或将要入睡时出现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。Beta波是人们在清醒中最常见的高频波。它在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认知推理、计算、阅读、沟通以及思考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等有意识的状态下会帮助人们做出完美的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响应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289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反常的激活条件：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去极化关闭，超极化（越负）越激活。</a:t>
            </a:r>
          </a:p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缓慢的动力学：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它的开关极其缓慢，这相当于在等效电路中引入了一个“感抗（Inductance）”。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当膜电位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超极化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（比静息更负，如 -75 mV 或更低）时，HCN 通道打开，允许 Na⁺ 和 K⁺ 流过，这就是 Ih 电流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超极化激活的阳离子电流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 是一个缓慢的内向电流，它让膜电位在超极化后缓慢回升，像弹簧一样往回拉。正是这个特性，让神经元能在 Theta 频段产生共振，赋予膜电位“节律弹性”。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7511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为了量化这一过程，我在 NEURON 中构建了包含胞体和远端树突的形态学模型，严格设置静息工作点在 -75mV 的亚阈值区间，并注入 ZAP 扫频电流进行测试。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形态学：包含胞体 (Soma) 和树突 (Dendrite 0.8)。</a:t>
            </a: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机制：引入了 HH 基础通道和基于真实电生理数据的HCN 通道。</a:t>
            </a: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刺激协议：ZAP 扫频电流（0.5-25 Hz）。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733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在注入扫频电流前，我先用负向方波电流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-0.05nA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验证了通道的合法性。如图所示，红色曲线展现了经典的 Sag 现象，证明 HCN 通道成功充当了对抗超极化的‘电压减震器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完美复现了 2.0 mV 的 Sag recovery 和回跃去极化。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右边这张图说明了我们外加的扫频电流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足够小，细胞完全处于**“亚阈值（Subthreshold）”**状态。只有在这种线性/微扰状态下，后面计算阻抗和共振才在数学上具有合法性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，同时可以发现电压变化会稍微小一点，这是因为额外增加了离子通道。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01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对于 RC 电容下凹的衰减曲线，这种算法会不可避免地捕捉到一个 0.036 的数学曲率伪影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HCN 通道加入后跃升至 0.062，是将共振能力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绝对翻倍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的真实生物学效应。配合非线性的动作电位阈值，这微小的亚阈值放大足以决定神经元是否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fire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32432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抛出问题：当把静息电位调整到</a:t>
            </a:r>
            <a:r>
              <a:rPr lang="en-US" altLang="zh-CN" dirty="0"/>
              <a:t>-65mV,</a:t>
            </a:r>
            <a:r>
              <a:rPr lang="zh-CN" altLang="en-US" dirty="0"/>
              <a:t>神奇的事情发生了，</a:t>
            </a:r>
            <a:r>
              <a:rPr lang="en-US" altLang="zh-CN" dirty="0" err="1"/>
              <a:t>hh</a:t>
            </a:r>
            <a:r>
              <a:rPr lang="zh-CN" altLang="en-US" dirty="0"/>
              <a:t>模型也出现了类似的共振峰，并且对应频率与加了</a:t>
            </a:r>
            <a:r>
              <a:rPr lang="en-US" altLang="zh-CN" dirty="0" err="1"/>
              <a:t>hcn</a:t>
            </a:r>
            <a:r>
              <a:rPr lang="zh-CN" altLang="en-US" dirty="0"/>
              <a:t>的几乎一样，增大到了约</a:t>
            </a:r>
            <a:r>
              <a:rPr lang="en-US" altLang="zh-CN" dirty="0"/>
              <a:t>25Hz</a:t>
            </a:r>
            <a:r>
              <a:rPr lang="zh-CN" altLang="en-US" dirty="0"/>
              <a:t>，这是为什么？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4895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图一说明再</a:t>
                </a:r>
                <a:r>
                  <a:rPr lang="en-US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-65mV,HCN</a:t>
                </a:r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不再起到主要的作用。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在 HH 模型中，钾通道负责动作电位的复极化。当静息电位被抬高到 -65 mV 时，一部分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zh-CN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+</m:t>
                        </m:r>
                      </m:sup>
                    </m:sSup>
                  </m:oMath>
                </a14:m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通道开始进入**“亚阈值激活状态”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当你输入低频 ZAP 电流使膜电位去极化时，这些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zh-CN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+</m:t>
                        </m:r>
                      </m:sup>
                    </m:sSup>
                  </m:oMath>
                </a14:m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通道会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缓慢地打开**，释放钾离子出细胞，从而产生一个向外的电流，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强行把膜电位压回去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dirty="0"/>
                </a:b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因为它的动作是“缓慢”的，所以它能成功压制低频信号（低频阻抗下降）；而高频信号它来不及反应，由膜电容过滤。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高低频都被压制，中间频率突围，HH模型自身的共振就产生了！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我的模型发现神经元不仅是滤波器，更是动态的调谐器。随着大脑状态从静息 (-75mV) 转为警觉 (-65mV)，HCN 通道会自动关闭，将‘接力棒’交给延迟整流钾通道，让神经元瞬间切换到高频的 Gamma 波段</a:t>
                </a:r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图一说明再</a:t>
                </a:r>
                <a:r>
                  <a:rPr lang="en-US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-65mV,HCN</a:t>
                </a:r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不再起到主要的作用。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在 HH 模型中，钾通道负责动作电位的复极化。当静息电位被抬高到 -65 mV 时，一部分 </a:t>
                </a:r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𝐾^</a:t>
                </a:r>
                <a:r>
                  <a:rPr lang="en-US" altLang="zh-CN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+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通道开始进入**“亚阈值激活状态”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当你输入低频 ZAP 电流使膜电位去极化时，这些 </a:t>
                </a:r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𝐾^</a:t>
                </a:r>
                <a:r>
                  <a:rPr lang="en-US" altLang="zh-CN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+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通道会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缓慢地打开**，释放钾离子出细胞，从而产生一个向外的电流，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强行把膜电位压回去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dirty="0"/>
                </a:b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因为它的动作是“缓慢”的，所以它能成功压制低频信号（低频阻抗下降）；而高频信号它来不及反应，由膜电容过滤。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高低频都被压制，中间频率突围，HH模型自身的共振就产生了！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我的模型发现神经元不仅是滤波器，更是动态的调谐器。随着大脑状态从静息 (-75mV) 转为警觉 (-65mV)，HCN 通道会自动关闭，将‘接力棒’交给延迟整流钾通道，让神经元瞬间切换到高频的 Gamma 波段</a:t>
                </a:r>
                <a:endParaRPr lang="zh-CN" altLang="en-US" dirty="0"/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556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此外，我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们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的模型还在树突端 (Dend 0.8) 测到了同样的共振。在真实大脑的海马 CA1 区，远端树突的 HCN 密度极高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，我们的模型也定性的考虑了这点，设置了一个线性梯度分布，胞体是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0.25g_h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，远端的密度大约是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g_h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是胞体的四倍，这种分布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确保了远端和近端突触输入的公平竞争与时间同步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。据我们查找的资料，真实的大脑，远端的密度可能是胞体密度几十倍。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713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 HCN1 基因发生功能丧失突变，我们前一张幻灯片里的那个完美调谐器就彻底损毁了。神经元再也无法在 Theta 波段产生共振，也就是说，它丧失了对低频信号的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提取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能力和对高频噪声的减震作用这直接导致了早发性婴儿癫痫脑病。患儿在出生后不久就出现难治性发作，并且脑电图上呈现出毫无正常节律的紊乱暴发。这里，我们从通道机制到临床症状看到了完整的因果链条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223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179D6-6F72-BDE9-3BB1-EDE1C9BA0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48C67F7-8216-ED7A-FC1C-90C0F81C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C75A3E-22CD-BBFF-5C35-D08937A35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F15BFB-27CD-BCE9-E120-1E2CCC677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F33734-89DA-B634-9321-E4A35007B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1679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6C941A-D46A-A167-6D79-E3269B60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894227-CD6A-BD46-C59B-9563555F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57BD5C-72CC-2C6B-9C93-37150045A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7ED564-2B45-1A57-EC18-03ED5E1A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5EC0CA-081D-0182-7C67-B6805E31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5648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D9A5D-D264-AFFE-7D22-A426D82E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1EE5D8-E603-F621-F5A9-BD401C2D0F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D7180F-EBF9-A0A8-57C3-018824633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EF374-CD13-DE32-CC4F-7598FCC30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F0D9DA-A9A0-8941-C9C6-CFFF04090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1819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12DBE-1DC8-7724-14C9-2A2093CB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970976-3281-A043-8A91-EA8A42AE1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6E111FD-55C2-B30C-4F15-9A4893B00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9D7494-3049-C53E-267B-0814B451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82350-3F87-9DE8-B2F8-05FD9F19D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1B4AAD4-0EEF-6F52-2387-6085019D2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80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C21D7A-9A4C-5203-7E4E-F7B499B66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71EF852-3F94-3A1B-F38B-68CACE0CF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3C5B45D-5178-D8CA-6028-EC11F5B436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6F84F06-4584-473C-15A5-4F345520B3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E688F4A-94C5-ACBB-C187-E2B9EB18D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AB13D5-9C68-F745-B3B8-CED335F1B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5A5C6A-2CAF-FF0C-F46B-8F1CF2BCB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232FF5-5EEC-DABB-8171-D0939B2C1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65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01B94C-55DD-4EA5-B527-4DEB12555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D763AF6-9F09-4CA2-EFB2-DF19E924B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CCFFFCF-ABDD-5A12-E0D1-C32A8F97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AC2015-2C7F-5C0C-18EC-C213EEE4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5005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D685D2E-5916-51FF-9CA0-04F9E44EC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E214DF1-AF34-4CA5-E5D4-DAE16420F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33258D4-FFB0-FB4E-7120-9D03D3E91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779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D8305B-9F3E-33C7-3D51-1F84D4AC4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45AF15-3361-AC9D-8DE4-7EC1BB96F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A250A81-0DC0-D882-047F-765D4ACF7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1255C9-0CFE-EBFC-44E5-D8179D993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F8AF4A-FCB2-8CE9-D690-5F156E92B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94632E-EB14-221A-B2B4-49EA0E063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33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3BF454-4AE7-39E7-E2DC-3028E7A20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463517-3727-8C78-52F0-B51FDB07E8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4F21DF-2980-29FB-CC62-425F290B3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B02456-348E-E69F-DB14-3010536A1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15ED0C8-CA44-5CA2-9EA9-F9DC4C2A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3347C7-896A-AAFC-FE4C-650AD77F9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9541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760930-5AFB-C9C1-F071-FE88C2F99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A3B5C3-1842-52EB-1E31-87A09107B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17F9B-00FC-017F-895F-D40896F6D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295568-D8A4-BD4A-2C34-A041F5F72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0EF534-9DC8-5CAC-4324-37A7134EB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8011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5027BB6-F5EC-81B7-680B-BFD70D9CF0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2EC689-6E0F-72EB-8E70-F9DADEFF5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46B185-353C-9681-082D-EE4AFC38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1E36EF-CFD6-6EE2-1B2C-D2F97C0CC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A46FC0-1F85-63E8-2897-A0D6ABACE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3044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E365814-BA13-4B86-AC35-27B9193ED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CAE696-BFD9-1640-CAAE-2E46EFF46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387128-6F36-A4AD-3E4B-3437FB2A81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EAA0B-170A-4D33-B5AB-2BB9271AD51B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18F01E-58F8-108E-2C3B-3702E88ADE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A3001C-8C57-3FB9-6C9F-D6C8ABDFD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67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C53DF3-644C-BD92-AD23-41D7FE32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1429" y="1230085"/>
            <a:ext cx="9035143" cy="2387600"/>
          </a:xfrm>
        </p:spPr>
        <p:txBody>
          <a:bodyPr>
            <a:normAutofit/>
          </a:bodyPr>
          <a:lstStyle/>
          <a:p>
            <a:r>
              <a:rPr lang="zh-CN" altLang="zh-CN" sz="3600" b="1" dirty="0"/>
              <a:t>大脑的动态调谐器：HCN 通道介导的亚阈值共振与神经信息编码</a:t>
            </a:r>
            <a:br>
              <a:rPr lang="en-US" altLang="zh-CN" sz="3200" dirty="0"/>
            </a:br>
            <a:br>
              <a:rPr lang="en-US" altLang="zh-CN" sz="3200" dirty="0"/>
            </a:br>
            <a:r>
              <a:rPr lang="zh-CN" altLang="zh-CN" sz="2400" b="1" dirty="0"/>
              <a:t>生物智能导论 - 讨论项目汇报</a:t>
            </a:r>
            <a:endParaRPr lang="zh-CN" altLang="en-US" sz="2400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6CB7FF7-E9B7-0E55-FCF0-A0EF377DF2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1429" y="3972153"/>
            <a:ext cx="9144000" cy="1655762"/>
          </a:xfrm>
        </p:spPr>
        <p:txBody>
          <a:bodyPr/>
          <a:lstStyle/>
          <a:p>
            <a:r>
              <a:rPr lang="zh-CN" altLang="en-US" dirty="0"/>
              <a:t>组员：徐梓航 洪玮骏 李沂桉</a:t>
            </a:r>
          </a:p>
        </p:txBody>
      </p:sp>
    </p:spTree>
    <p:extLst>
      <p:ext uri="{BB962C8B-B14F-4D97-AF65-F5344CB8AC3E}">
        <p14:creationId xmlns:p14="http://schemas.microsoft.com/office/powerpoint/2010/main" val="1031543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B2F8E6-C8B8-68AC-4C84-329AF97B9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886" y="0"/>
            <a:ext cx="10515600" cy="1325563"/>
          </a:xfrm>
        </p:spPr>
        <p:txBody>
          <a:bodyPr/>
          <a:lstStyle/>
          <a:p>
            <a:r>
              <a:rPr lang="zh-CN" altLang="en-US" dirty="0"/>
              <a:t>被动膜的低通滤波作用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AFD265D-6274-16C6-9C2D-A3BD8CB37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255" y="1472575"/>
            <a:ext cx="9162546" cy="410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663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947864-1880-7D32-E80D-96D79DF6B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572"/>
            <a:ext cx="10515600" cy="1325563"/>
          </a:xfrm>
        </p:spPr>
        <p:txBody>
          <a:bodyPr/>
          <a:lstStyle/>
          <a:p>
            <a:r>
              <a:rPr lang="zh-CN" altLang="zh-CN" dirty="0"/>
              <a:t>矛盾与动机：大脑中的特定节律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E567B9-4AE1-5C2A-F62B-D689A23944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202"/>
            <a:ext cx="10515600" cy="4351338"/>
          </a:xfrm>
        </p:spPr>
        <p:txBody>
          <a:bodyPr/>
          <a:lstStyle/>
          <a:p>
            <a:r>
              <a:rPr lang="zh-CN" altLang="zh-CN" dirty="0"/>
              <a:t>大脑网络充满了特定频率的振荡节律，神经元必须能精准地捕捉这些节律。</a:t>
            </a:r>
          </a:p>
          <a:p>
            <a:r>
              <a:rPr lang="zh-CN" altLang="zh-CN" dirty="0"/>
              <a:t>如果神经元只是低通滤波器，它如何实现频率选择（Frequency Tuning）？</a:t>
            </a: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871A024-4A0A-AECF-C62F-68C03864F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730" y="3093357"/>
            <a:ext cx="52292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35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8F461D-B282-1388-29B2-8985F1744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dirty="0"/>
              <a:t>HCN 通道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7C39CEF-83C8-EAF8-A965-FAC6D62191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79" y="1690688"/>
            <a:ext cx="1044321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15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78677-4918-606F-E276-3D1585865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704"/>
            <a:ext cx="10515600" cy="1325563"/>
          </a:xfrm>
        </p:spPr>
        <p:txBody>
          <a:bodyPr/>
          <a:lstStyle/>
          <a:p>
            <a:r>
              <a:rPr lang="zh-CN" altLang="zh-CN" dirty="0"/>
              <a:t>NEURON 模型架构设计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7FEDE80-C25F-6A5F-3649-3E4C4842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10577" y="3839665"/>
            <a:ext cx="7413051" cy="284363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68DE07-6414-9278-67C9-296A33525B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50" y="1221425"/>
            <a:ext cx="7242707" cy="2897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36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0204FE-7FEA-BEEE-163A-C8AE45940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时域验证：超极化下垂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0A33252-9D09-77D6-F80E-AC8B65835B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555940"/>
            <a:ext cx="10515600" cy="39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534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480FA9-509A-5A0F-D5E1-30B402D8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频域：亚阈值共振的直观对比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C7FE44F-59E5-3E7D-FD70-16EF368C58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58371" y="1542279"/>
            <a:ext cx="10515600" cy="396212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35BBFE0-80E7-E38E-72A3-978BC732775D}"/>
              </a:ext>
            </a:extLst>
          </p:cNvPr>
          <p:cNvSpPr txBox="1"/>
          <p:nvPr/>
        </p:nvSpPr>
        <p:spPr>
          <a:xfrm>
            <a:off x="1023257" y="5653314"/>
            <a:ext cx="9209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计算共振显著度采用了</a:t>
            </a:r>
            <a:r>
              <a:rPr lang="zh-CN" altLang="zh-CN" dirty="0"/>
              <a:t>侧翼均值扣除法</a:t>
            </a:r>
            <a:r>
              <a:rPr lang="zh-CN" altLang="en-US" dirty="0"/>
              <a:t>，这也是为什么单调减函数也有非零值</a:t>
            </a:r>
          </a:p>
        </p:txBody>
      </p:sp>
    </p:spTree>
    <p:extLst>
      <p:ext uri="{BB962C8B-B14F-4D97-AF65-F5344CB8AC3E}">
        <p14:creationId xmlns:p14="http://schemas.microsoft.com/office/powerpoint/2010/main" val="3848546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D92AD2-A0BA-E1A6-C107-06FD69E33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1325563"/>
          </a:xfrm>
        </p:spPr>
        <p:txBody>
          <a:bodyPr/>
          <a:lstStyle/>
          <a:p>
            <a:r>
              <a:rPr lang="zh-CN" altLang="zh-CN" dirty="0"/>
              <a:t> 进阶发现：大脑如何切换“调频波段”？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919539E-3846-A60B-54CF-1EDCAAA19A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84714" y="1702254"/>
            <a:ext cx="547702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971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B2A1BD-A1D0-4DBD-B7ED-DD36921F0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可能的原因：钾离子通道</a:t>
            </a:r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8FAEEC33-4426-F0B6-5FCB-16A9B7BDE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4680" y="1538513"/>
            <a:ext cx="4171020" cy="327614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29ABE1C-80FA-76CB-5197-9E183C758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1" y="1690688"/>
            <a:ext cx="7206635" cy="280184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C530ABC-BC76-117A-57C2-573B0B19CADC}"/>
              </a:ext>
            </a:extLst>
          </p:cNvPr>
          <p:cNvSpPr txBox="1"/>
          <p:nvPr/>
        </p:nvSpPr>
        <p:spPr>
          <a:xfrm>
            <a:off x="838200" y="5319487"/>
            <a:ext cx="9699171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入睡</a:t>
            </a:r>
            <a:r>
              <a:rPr lang="zh-CN" altLang="zh-CN" sz="2000" dirty="0"/>
              <a:t>/静息 (-75mV)：HCN 通道主导，调谐 Theta 波 (4-8 Hz)。</a:t>
            </a:r>
          </a:p>
          <a:p>
            <a:r>
              <a:rPr lang="zh-CN" altLang="zh-CN" sz="2000" dirty="0"/>
              <a:t>警觉/活跃 (-65mV)：HCN </a:t>
            </a:r>
            <a:r>
              <a:rPr lang="zh-CN" altLang="en-US" sz="2000" dirty="0"/>
              <a:t>几乎关闭</a:t>
            </a:r>
            <a:r>
              <a:rPr lang="zh-CN" altLang="zh-CN" sz="2000" dirty="0"/>
              <a:t>，钾通道接力，调谐 Beta/Gamma 波 (20-30 Hz)。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78803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5E79E9-37B8-D744-62D8-0F678190A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树突的独立计算与空间编码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0AC73C7-4900-95AB-400E-0AE85C3BF3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7362" y="1512090"/>
            <a:ext cx="9144019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620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116DF1-BD7F-6451-B58D-F3DC47E05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临床联系：早发性婴儿癫痫脑病（EIEE24）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D32CA5-AB07-1C94-CD38-CD8FAC34D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600" y="1789340"/>
            <a:ext cx="10515600" cy="4351338"/>
          </a:xfrm>
        </p:spPr>
        <p:txBody>
          <a:bodyPr/>
          <a:lstStyle/>
          <a:p>
            <a:r>
              <a:rPr lang="zh-CN" altLang="zh-CN" dirty="0"/>
              <a:t>由 </a:t>
            </a:r>
            <a:r>
              <a:rPr lang="zh-CN" altLang="zh-CN" b="1" dirty="0"/>
              <a:t>HCN1 基因新生杂合突变</a:t>
            </a:r>
            <a:r>
              <a:rPr lang="zh-CN" altLang="zh-CN" dirty="0"/>
              <a:t> 引起的一种严重发育性癫痫脑病</a:t>
            </a:r>
            <a:endParaRPr lang="en-US" altLang="zh-CN" dirty="0"/>
          </a:p>
          <a:p>
            <a:r>
              <a:rPr lang="zh-CN" altLang="zh-CN" dirty="0"/>
              <a:t>HCN1 新生突变 → 通道功能丧失 → Ih 电流消失</a:t>
            </a:r>
          </a:p>
          <a:p>
            <a:r>
              <a:rPr lang="zh-CN" altLang="zh-CN" dirty="0"/>
              <a:t>神经元丧失 Theta 共振峰，频率过滤能力被破坏</a:t>
            </a:r>
          </a:p>
          <a:p>
            <a:r>
              <a:rPr lang="zh-CN" altLang="zh-CN" dirty="0"/>
              <a:t>临床：出生不久即起病，难治性癫痫+严重发育迟滞</a:t>
            </a:r>
          </a:p>
          <a:p>
            <a:r>
              <a:rPr lang="zh-CN" altLang="zh-CN" b="1" dirty="0"/>
              <a:t>脑电图：</a:t>
            </a:r>
            <a:r>
              <a:rPr lang="zh-CN" altLang="zh-CN" dirty="0"/>
              <a:t>背景活动严重紊乱，缺乏正常的睡眠纺锤波和 Theta 节律</a:t>
            </a:r>
            <a:r>
              <a:rPr lang="zh-CN" altLang="en-US" dirty="0"/>
              <a:t>，</a:t>
            </a:r>
            <a:r>
              <a:rPr lang="zh-CN" altLang="zh-CN" dirty="0"/>
              <a:t>大量棘‑慢复合波爆发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06372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B6E3FA-F5D8-A7B8-CD01-B6AF67CA3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总结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77699A-E33D-6642-3818-3BC68F9CA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962604"/>
          </a:xfrm>
        </p:spPr>
        <p:txBody>
          <a:bodyPr/>
          <a:lstStyle/>
          <a:p>
            <a:r>
              <a:rPr lang="zh-CN" altLang="en-US" dirty="0"/>
              <a:t>核心结论：</a:t>
            </a:r>
            <a:endParaRPr lang="en-US" altLang="zh-CN" dirty="0"/>
          </a:p>
          <a:p>
            <a:pPr lvl="1"/>
            <a:r>
              <a:rPr lang="zh-CN" altLang="zh-CN" dirty="0"/>
              <a:t>神经元并非简单的被动积分器，而是具有状态依赖性（State-dependent）的主动带通滤波器。</a:t>
            </a:r>
          </a:p>
          <a:p>
            <a:pPr lvl="1"/>
            <a:r>
              <a:rPr lang="zh-CN" altLang="zh-CN" dirty="0"/>
              <a:t>HCN 与其它离子通道协同作用，构成了大脑处理宏观脑电信息的微观细胞基础。</a:t>
            </a:r>
            <a:endParaRPr lang="en-US" altLang="zh-CN" dirty="0"/>
          </a:p>
          <a:p>
            <a:pPr marL="457200" lvl="1" indent="0">
              <a:buNone/>
            </a:pPr>
            <a:endParaRPr lang="zh-CN" altLang="zh-CN" dirty="0"/>
          </a:p>
          <a:p>
            <a:pPr lvl="1"/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C3E4DD3-EC57-99F9-4519-82AF475895E2}"/>
              </a:ext>
            </a:extLst>
          </p:cNvPr>
          <p:cNvSpPr txBox="1"/>
          <p:nvPr/>
        </p:nvSpPr>
        <p:spPr>
          <a:xfrm>
            <a:off x="1299029" y="4361543"/>
            <a:ext cx="91367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dirty="0"/>
              <a:t>谢谢！欢迎批评指正！</a:t>
            </a:r>
          </a:p>
        </p:txBody>
      </p:sp>
    </p:spTree>
    <p:extLst>
      <p:ext uri="{BB962C8B-B14F-4D97-AF65-F5344CB8AC3E}">
        <p14:creationId xmlns:p14="http://schemas.microsoft.com/office/powerpoint/2010/main" val="1682359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1417</Words>
  <Application>Microsoft Office PowerPoint</Application>
  <PresentationFormat>宽屏</PresentationFormat>
  <Paragraphs>55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主题​​</vt:lpstr>
      <vt:lpstr>大脑的动态调谐器：HCN 通道介导的亚阈值共振与神经信息编码  生物智能导论 - 讨论项目汇报</vt:lpstr>
      <vt:lpstr>被动膜的低通滤波作用</vt:lpstr>
      <vt:lpstr>矛盾与动机：大脑中的特定节律</vt:lpstr>
      <vt:lpstr>HCN 通道</vt:lpstr>
      <vt:lpstr>NEURON 模型架构设计</vt:lpstr>
      <vt:lpstr>时域验证：超极化下垂</vt:lpstr>
      <vt:lpstr>频域：亚阈值共振的直观对比</vt:lpstr>
      <vt:lpstr> 进阶发现：大脑如何切换“调频波段”？</vt:lpstr>
      <vt:lpstr>可能的原因：钾离子通道</vt:lpstr>
      <vt:lpstr>树突的独立计算与空间编码</vt:lpstr>
      <vt:lpstr>临床联系：早发性婴儿癫痫脑病（EIEE24）</vt:lpstr>
      <vt:lpstr>总结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沂桉 李</dc:creator>
  <cp:lastModifiedBy>沂桉 李</cp:lastModifiedBy>
  <cp:revision>30</cp:revision>
  <dcterms:created xsi:type="dcterms:W3CDTF">2026-05-29T13:39:23Z</dcterms:created>
  <dcterms:modified xsi:type="dcterms:W3CDTF">2026-05-29T15:58:41Z</dcterms:modified>
</cp:coreProperties>
</file>